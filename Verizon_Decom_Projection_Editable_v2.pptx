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Decom Projection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VBG RPA Bot Portfolio |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CD202C"/>
                </a:solidFill>
              </a:defRPr>
            </a:pPr>
            <a:r>
              <a:t>65</a:t>
            </a:r>
          </a:p>
          <a:p>
            <a:pPr algn="ctr">
              <a:defRPr sz="1200" b="1">
                <a:solidFill>
                  <a:srgbClr val="2D2D2D"/>
                </a:solidFill>
              </a:defRPr>
            </a:pPr>
            <a:r>
              <a:t>INITIAL BOTS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64592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CD202C"/>
                </a:solidFill>
              </a:defRPr>
            </a:pPr>
            <a:r>
              <a:t>-20</a:t>
            </a:r>
          </a:p>
          <a:p>
            <a:pPr algn="ctr">
              <a:defRPr sz="1200" b="1">
                <a:solidFill>
                  <a:srgbClr val="2D2D2D"/>
                </a:solidFill>
              </a:defRPr>
            </a:pPr>
            <a:r>
              <a:t>DECOM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CD202C"/>
                </a:solidFill>
              </a:defRPr>
            </a:pPr>
            <a:r>
              <a:t>45</a:t>
            </a:r>
          </a:p>
          <a:p>
            <a:pPr algn="ctr">
              <a:defRPr sz="1200" b="1">
                <a:solidFill>
                  <a:srgbClr val="2D2D2D"/>
                </a:solidFill>
              </a:defRPr>
            </a:pPr>
            <a:r>
              <a:t>CURRENT BOTS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4592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CD202C"/>
                </a:solidFill>
              </a:defRPr>
            </a:pPr>
            <a:r>
              <a:t>-05</a:t>
            </a:r>
          </a:p>
          <a:p>
            <a:pPr algn="ctr">
              <a:defRPr sz="1200" b="1">
                <a:solidFill>
                  <a:srgbClr val="2D2D2D"/>
                </a:solidFill>
              </a:defRPr>
            </a:pPr>
            <a:r>
              <a:t>Q1–2026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64592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D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CD202C"/>
                </a:solidFill>
              </a:defRPr>
            </a:pPr>
            <a:r>
              <a:t>40</a:t>
            </a:r>
          </a:p>
          <a:p>
            <a:pPr algn="ctr">
              <a:defRPr sz="1200" b="1">
                <a:solidFill>
                  <a:srgbClr val="2D2D2D"/>
                </a:solidFill>
              </a:defRPr>
            </a:pPr>
            <a:r>
              <a:t>PROJECTED BOTS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09728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D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2D2D2D"/>
                </a:solidFill>
              </a:defRPr>
            </a:pPr>
            <a:r>
              <a:t>Q1 – 2026 Projection Summary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plan for Q1 is to decommission 5 bots, representing a 38.5% reduction of the portfolio.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0972800" cy="32004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394960"/>
            <a:ext cx="4224528" cy="320040"/>
          </a:xfrm>
          <a:prstGeom prst="rect">
            <a:avLst/>
          </a:prstGeom>
          <a:solidFill>
            <a:srgbClr val="CD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D2D2D"/>
                </a:solidFill>
              </a:defRPr>
            </a:pPr>
            <a:r>
              <a:t>Portfolio Reduction: 38.5%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1325880"/>
            <a:ext cx="320040" cy="320040"/>
          </a:xfrm>
          <a:prstGeom prst="ellipse">
            <a:avLst/>
          </a:prstGeom>
          <a:solidFill>
            <a:srgbClr val="CD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Oval 14"/>
          <p:cNvSpPr/>
          <p:nvPr/>
        </p:nvSpPr>
        <p:spPr>
          <a:xfrm>
            <a:off x="3017520" y="1325880"/>
            <a:ext cx="320040" cy="320040"/>
          </a:xfrm>
          <a:prstGeom prst="ellipse">
            <a:avLst/>
          </a:prstGeom>
          <a:solidFill>
            <a:srgbClr val="CD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1325880"/>
            <a:ext cx="320040" cy="320040"/>
          </a:xfrm>
          <a:prstGeom prst="ellipse">
            <a:avLst/>
          </a:prstGeom>
          <a:solidFill>
            <a:srgbClr val="CD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1325880"/>
            <a:ext cx="320040" cy="320040"/>
          </a:xfrm>
          <a:prstGeom prst="ellipse">
            <a:avLst/>
          </a:prstGeom>
          <a:solidFill>
            <a:srgbClr val="CD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0" y="1325880"/>
            <a:ext cx="320040" cy="320040"/>
          </a:xfrm>
          <a:prstGeom prst="ellipse">
            <a:avLst/>
          </a:prstGeom>
          <a:solidFill>
            <a:srgbClr val="CD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